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2040" autoAdjust="0"/>
  </p:normalViewPr>
  <p:slideViewPr>
    <p:cSldViewPr snapToGrid="0" snapToObjects="1">
      <p:cViewPr>
        <p:scale>
          <a:sx n="125" d="100"/>
          <a:sy n="125" d="100"/>
        </p:scale>
        <p:origin x="2820" y="-1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486648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SPEAKER NOT</a:t>
            </a:r>
            <a:r>
              <a:rPr lang="en-US" dirty="0"/>
              <a:t>ES: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SPEAKER NOTES: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SPEAKER NOTES: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SPEAKER NOTES: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SPEAKER NOTES: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SPEAKER NOTES: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SPEAKER NOTES: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SPEAKER NOTES: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SPEAKER NOTES: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SPEAKER NOTES: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SPEAKER NOTES: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0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>
                <a:solidFill>
                  <a:srgbClr val="FFCC00"/>
                </a:solidFill>
                <a:latin typeface="Segoe UI"/>
              </a:defRPr>
            </a:pPr>
            <a:r>
              <a:rPr dirty="0"/>
              <a:t>S-AES Implementation in XTS Mode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pPr>
              <a:defRPr>
                <a:solidFill>
                  <a:srgbClr val="F0F0F0"/>
                </a:solidFill>
                <a:latin typeface="Segoe UI"/>
              </a:defRPr>
            </a:pPr>
            <a:r>
              <a:rPr dirty="0"/>
              <a:t>Architecture, Protocol Validation, and Cryptanalysis</a:t>
            </a:r>
          </a:p>
          <a:p>
            <a:pPr>
              <a:defRPr>
                <a:solidFill>
                  <a:srgbClr val="F0F0F0"/>
                </a:solidFill>
                <a:latin typeface="Segoe UI"/>
              </a:defRPr>
            </a:pPr>
            <a:endParaRPr dirty="0"/>
          </a:p>
          <a:p>
            <a:pPr>
              <a:defRPr>
                <a:solidFill>
                  <a:srgbClr val="F0F0F0"/>
                </a:solidFill>
                <a:latin typeface="Segoe UI"/>
              </a:defRPr>
            </a:pPr>
            <a:r>
              <a:rPr dirty="0"/>
              <a:t>Charbel Marou</a:t>
            </a:r>
            <a:r>
              <a:rPr lang="en-US" dirty="0"/>
              <a:t>n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0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FFCC00"/>
                </a:solidFill>
                <a:latin typeface="Segoe UI"/>
              </a:defRPr>
            </a:pPr>
            <a:r>
              <a:t>Project Scope &amp; Requirements Fulfillment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defRPr>
                <a:solidFill>
                  <a:srgbClr val="F0F0F0"/>
                </a:solidFill>
                <a:latin typeface="Segoe UI"/>
              </a:defRPr>
            </a:pPr>
            <a:r>
              <a:rPr sz="2400" dirty="0"/>
              <a:t>Step 1: Research Methodology</a:t>
            </a:r>
          </a:p>
          <a:p>
            <a:pPr lvl="1">
              <a:defRPr>
                <a:solidFill>
                  <a:srgbClr val="F0F0F0"/>
                </a:solidFill>
                <a:latin typeface="Segoe UI"/>
              </a:defRPr>
            </a:pPr>
            <a:r>
              <a:rPr sz="2400" dirty="0"/>
              <a:t>Analyzed standard AES vs S-AES constraints. Researched XTS mode vulnerabilities vs ECB.</a:t>
            </a:r>
          </a:p>
          <a:p>
            <a:pPr>
              <a:defRPr>
                <a:solidFill>
                  <a:srgbClr val="F0F0F0"/>
                </a:solidFill>
                <a:latin typeface="Segoe UI"/>
              </a:defRPr>
            </a:pPr>
            <a:r>
              <a:rPr sz="2400" dirty="0"/>
              <a:t>Step 2: Core Implementation (Zero Dependencies)</a:t>
            </a:r>
          </a:p>
          <a:p>
            <a:pPr lvl="1">
              <a:defRPr>
                <a:solidFill>
                  <a:srgbClr val="F0F0F0"/>
                </a:solidFill>
                <a:latin typeface="Segoe UI"/>
              </a:defRPr>
            </a:pPr>
            <a:r>
              <a:rPr sz="2400" dirty="0"/>
              <a:t>Constructed S-AES pure-integer logic: Key Expansion, Substitution, Permutation, Finite Fields.</a:t>
            </a:r>
          </a:p>
          <a:p>
            <a:pPr lvl="1">
              <a:defRPr>
                <a:solidFill>
                  <a:srgbClr val="F0F0F0"/>
                </a:solidFill>
                <a:latin typeface="Segoe UI"/>
              </a:defRPr>
            </a:pPr>
            <a:r>
              <a:rPr sz="2400" dirty="0"/>
              <a:t>Wrapped S-AES in XTS Mode (XEX-based Tweaked </a:t>
            </a:r>
            <a:r>
              <a:rPr sz="2400" dirty="0" err="1"/>
              <a:t>CodeBook</a:t>
            </a:r>
            <a:r>
              <a:rPr sz="2400" dirty="0"/>
              <a:t>).</a:t>
            </a:r>
          </a:p>
          <a:p>
            <a:pPr>
              <a:defRPr>
                <a:solidFill>
                  <a:srgbClr val="F0F0F0"/>
                </a:solidFill>
                <a:latin typeface="Segoe UI"/>
              </a:defRPr>
            </a:pPr>
            <a:r>
              <a:rPr sz="2400" dirty="0"/>
              <a:t>Step 3: Cryptanalysis execution</a:t>
            </a:r>
          </a:p>
          <a:p>
            <a:pPr lvl="1">
              <a:defRPr>
                <a:solidFill>
                  <a:srgbClr val="F0F0F0"/>
                </a:solidFill>
                <a:latin typeface="Segoe UI"/>
              </a:defRPr>
            </a:pPr>
            <a:r>
              <a:rPr sz="2400" dirty="0"/>
              <a:t>Optimized a Known-Plaintext Attack (KPA) to exploit the 16-bit key cap limitations.</a:t>
            </a:r>
          </a:p>
          <a:p>
            <a:pPr>
              <a:defRPr>
                <a:solidFill>
                  <a:srgbClr val="F0F0F0"/>
                </a:solidFill>
                <a:latin typeface="Segoe UI"/>
              </a:defRPr>
            </a:pPr>
            <a:r>
              <a:rPr sz="2400" dirty="0"/>
              <a:t>Step 4: All deliverables synthesized systematically.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0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FFCC00"/>
                </a:solidFill>
                <a:latin typeface="Segoe UI"/>
              </a:defRPr>
            </a:pPr>
            <a:r>
              <a:t>Research: Architecture of S-AES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defRPr>
                <a:solidFill>
                  <a:srgbClr val="F0F0F0"/>
                </a:solidFill>
                <a:latin typeface="Segoe UI"/>
              </a:defRPr>
            </a:pPr>
            <a:r>
              <a:rPr sz="2000" dirty="0"/>
              <a:t>What is S-AES?</a:t>
            </a:r>
          </a:p>
          <a:p>
            <a:pPr lvl="1">
              <a:defRPr>
                <a:solidFill>
                  <a:srgbClr val="F0F0F0"/>
                </a:solidFill>
                <a:latin typeface="Segoe UI"/>
              </a:defRPr>
            </a:pPr>
            <a:r>
              <a:rPr sz="2000" dirty="0"/>
              <a:t>A scaled-down cipher mirroring Advanced Encryption Standard (AES) meant for strict educational analysis.</a:t>
            </a:r>
          </a:p>
          <a:p>
            <a:pPr lvl="2">
              <a:defRPr>
                <a:solidFill>
                  <a:srgbClr val="F0F0F0"/>
                </a:solidFill>
                <a:latin typeface="Segoe UI"/>
              </a:defRPr>
            </a:pPr>
            <a:r>
              <a:rPr sz="2000" dirty="0"/>
              <a:t>Payload Size: 16-bit data blocks (vs 128-bit in standard AES).</a:t>
            </a:r>
          </a:p>
          <a:p>
            <a:pPr lvl="2">
              <a:defRPr>
                <a:solidFill>
                  <a:srgbClr val="F0F0F0"/>
                </a:solidFill>
                <a:latin typeface="Segoe UI"/>
              </a:defRPr>
            </a:pPr>
            <a:r>
              <a:rPr sz="2000" dirty="0"/>
              <a:t>Master Key Size: 16-bit key yielding exactly 65,536 permutations.</a:t>
            </a:r>
          </a:p>
          <a:p>
            <a:pPr>
              <a:defRPr>
                <a:solidFill>
                  <a:srgbClr val="F0F0F0"/>
                </a:solidFill>
                <a:latin typeface="Segoe UI"/>
              </a:defRPr>
            </a:pPr>
            <a:r>
              <a:rPr sz="2000" dirty="0"/>
              <a:t>The S-AES Encryption State Flow:</a:t>
            </a:r>
          </a:p>
          <a:p>
            <a:pPr lvl="1">
              <a:defRPr>
                <a:solidFill>
                  <a:srgbClr val="F0F0F0"/>
                </a:solidFill>
                <a:latin typeface="Segoe UI"/>
              </a:defRPr>
            </a:pPr>
            <a:r>
              <a:rPr sz="2000" dirty="0"/>
              <a:t>Unlike AES's 10 rounds, S-AES operates over 2 rounds:</a:t>
            </a:r>
          </a:p>
          <a:p>
            <a:pPr lvl="2">
              <a:defRPr>
                <a:solidFill>
                  <a:srgbClr val="F0F0F0"/>
                </a:solidFill>
                <a:latin typeface="Segoe UI"/>
              </a:defRPr>
            </a:pPr>
            <a:r>
              <a:rPr sz="2000" dirty="0"/>
              <a:t>Round 1: </a:t>
            </a:r>
            <a:r>
              <a:rPr sz="2000" dirty="0" err="1"/>
              <a:t>SubNibbles</a:t>
            </a:r>
            <a:r>
              <a:rPr sz="2000" dirty="0"/>
              <a:t> -&gt; </a:t>
            </a:r>
            <a:r>
              <a:rPr sz="2000" dirty="0" err="1"/>
              <a:t>ShiftRows</a:t>
            </a:r>
            <a:r>
              <a:rPr sz="2000" dirty="0"/>
              <a:t> -&gt; </a:t>
            </a:r>
            <a:r>
              <a:rPr sz="2000" dirty="0" err="1"/>
              <a:t>MixColumns</a:t>
            </a:r>
            <a:r>
              <a:rPr sz="2000" dirty="0"/>
              <a:t> -&gt; </a:t>
            </a:r>
            <a:r>
              <a:rPr sz="2000" dirty="0" err="1"/>
              <a:t>AddRoundKey</a:t>
            </a:r>
            <a:r>
              <a:rPr sz="2000" dirty="0"/>
              <a:t> (K1)</a:t>
            </a:r>
          </a:p>
          <a:p>
            <a:pPr lvl="2">
              <a:defRPr>
                <a:solidFill>
                  <a:srgbClr val="F0F0F0"/>
                </a:solidFill>
                <a:latin typeface="Segoe UI"/>
              </a:defRPr>
            </a:pPr>
            <a:r>
              <a:rPr sz="2000" dirty="0"/>
              <a:t>Round 2: </a:t>
            </a:r>
            <a:r>
              <a:rPr sz="2000" dirty="0" err="1"/>
              <a:t>SubNibbles</a:t>
            </a:r>
            <a:r>
              <a:rPr sz="2000" dirty="0"/>
              <a:t> -&gt; </a:t>
            </a:r>
            <a:r>
              <a:rPr sz="2000" dirty="0" err="1"/>
              <a:t>ShiftRows</a:t>
            </a:r>
            <a:r>
              <a:rPr sz="2000" dirty="0"/>
              <a:t> -&gt; </a:t>
            </a:r>
            <a:r>
              <a:rPr sz="2000" dirty="0" err="1"/>
              <a:t>AddRoundKey</a:t>
            </a:r>
            <a:r>
              <a:rPr sz="2000" dirty="0"/>
              <a:t> (K2)</a:t>
            </a:r>
          </a:p>
          <a:p>
            <a:pPr lvl="1">
              <a:defRPr>
                <a:solidFill>
                  <a:srgbClr val="F0F0F0"/>
                </a:solidFill>
                <a:latin typeface="Segoe UI"/>
              </a:defRPr>
            </a:pPr>
            <a:r>
              <a:rPr sz="2000" dirty="0" err="1"/>
              <a:t>MixColumns</a:t>
            </a:r>
            <a:r>
              <a:rPr sz="2000" dirty="0"/>
              <a:t> is deliberately omitted in the final round to preserve inverse symmetry for the decryption cycle.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0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FFCC00"/>
                </a:solidFill>
                <a:latin typeface="Segoe UI"/>
              </a:defRPr>
            </a:pPr>
            <a:r>
              <a:t>Implementation: The Core Wrapper (saes_encrypt)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859872"/>
            <a:ext cx="8229600" cy="4572000"/>
          </a:xfrm>
          <a:prstGeom prst="rect">
            <a:avLst/>
          </a:prstGeom>
          <a:solidFill>
            <a:srgbClr val="1E1E1E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400">
                <a:solidFill>
                  <a:srgbClr val="56D364"/>
                </a:solidFill>
                <a:latin typeface="Consolas"/>
              </a:defRPr>
            </a:pPr>
            <a:r>
              <a:rPr dirty="0"/>
              <a:t>def </a:t>
            </a:r>
            <a:r>
              <a:rPr dirty="0" err="1"/>
              <a:t>saes_encrypt</a:t>
            </a:r>
            <a:r>
              <a:rPr dirty="0"/>
              <a:t>(block, key):</a:t>
            </a:r>
          </a:p>
          <a:p>
            <a:pPr algn="l">
              <a:defRPr sz="1400">
                <a:solidFill>
                  <a:srgbClr val="56D364"/>
                </a:solidFill>
                <a:latin typeface="Consolas"/>
              </a:defRPr>
            </a:pPr>
            <a:r>
              <a:rPr dirty="0"/>
              <a:t>    # Generates three distinct sub-keys from the master key</a:t>
            </a:r>
          </a:p>
          <a:p>
            <a:pPr algn="l">
              <a:defRPr sz="1400">
                <a:solidFill>
                  <a:srgbClr val="56D364"/>
                </a:solidFill>
                <a:latin typeface="Consolas"/>
              </a:defRPr>
            </a:pPr>
            <a:r>
              <a:rPr dirty="0"/>
              <a:t>    keys = </a:t>
            </a:r>
            <a:r>
              <a:rPr dirty="0" err="1"/>
              <a:t>key_expansion</a:t>
            </a:r>
            <a:r>
              <a:rPr dirty="0"/>
              <a:t>(key)</a:t>
            </a:r>
          </a:p>
          <a:p>
            <a:pPr algn="l">
              <a:defRPr sz="1400">
                <a:solidFill>
                  <a:srgbClr val="56D364"/>
                </a:solidFill>
                <a:latin typeface="Consolas"/>
              </a:defRPr>
            </a:pPr>
            <a:r>
              <a:rPr dirty="0"/>
              <a:t>    </a:t>
            </a:r>
          </a:p>
          <a:p>
            <a:pPr algn="l">
              <a:defRPr sz="1400">
                <a:solidFill>
                  <a:srgbClr val="56D364"/>
                </a:solidFill>
                <a:latin typeface="Consolas"/>
              </a:defRPr>
            </a:pPr>
            <a:r>
              <a:rPr dirty="0"/>
              <a:t>    # Pre-round Whitening</a:t>
            </a:r>
          </a:p>
          <a:p>
            <a:pPr algn="l">
              <a:defRPr sz="1400">
                <a:solidFill>
                  <a:srgbClr val="56D364"/>
                </a:solidFill>
                <a:latin typeface="Consolas"/>
              </a:defRPr>
            </a:pPr>
            <a:r>
              <a:rPr dirty="0"/>
              <a:t>    state = block ^ keys[0]</a:t>
            </a:r>
          </a:p>
          <a:p>
            <a:pPr algn="l">
              <a:defRPr sz="1400">
                <a:solidFill>
                  <a:srgbClr val="56D364"/>
                </a:solidFill>
                <a:latin typeface="Consolas"/>
              </a:defRPr>
            </a:pPr>
            <a:r>
              <a:rPr dirty="0"/>
              <a:t>    </a:t>
            </a:r>
          </a:p>
          <a:p>
            <a:pPr algn="l">
              <a:defRPr sz="1400">
                <a:solidFill>
                  <a:srgbClr val="56D364"/>
                </a:solidFill>
                <a:latin typeface="Consolas"/>
              </a:defRPr>
            </a:pPr>
            <a:r>
              <a:rPr dirty="0"/>
              <a:t>    # Round 1 (Full operations)</a:t>
            </a:r>
          </a:p>
          <a:p>
            <a:pPr algn="l">
              <a:defRPr sz="1400">
                <a:solidFill>
                  <a:srgbClr val="56D364"/>
                </a:solidFill>
                <a:latin typeface="Consolas"/>
              </a:defRPr>
            </a:pPr>
            <a:r>
              <a:rPr dirty="0"/>
              <a:t>    state = </a:t>
            </a:r>
            <a:r>
              <a:rPr dirty="0" err="1"/>
              <a:t>sub_state</a:t>
            </a:r>
            <a:r>
              <a:rPr dirty="0"/>
              <a:t>(state, SBOX)     # Confusion (Substitution)</a:t>
            </a:r>
          </a:p>
          <a:p>
            <a:pPr algn="l">
              <a:defRPr sz="1400">
                <a:solidFill>
                  <a:srgbClr val="56D364"/>
                </a:solidFill>
                <a:latin typeface="Consolas"/>
              </a:defRPr>
            </a:pPr>
            <a:r>
              <a:rPr dirty="0"/>
              <a:t>    state = </a:t>
            </a:r>
            <a:r>
              <a:rPr dirty="0" err="1"/>
              <a:t>shift_rows</a:t>
            </a:r>
            <a:r>
              <a:rPr dirty="0"/>
              <a:t>(state)          # Diffusion (Permutation)</a:t>
            </a:r>
          </a:p>
          <a:p>
            <a:pPr algn="l">
              <a:defRPr sz="1400">
                <a:solidFill>
                  <a:srgbClr val="56D364"/>
                </a:solidFill>
                <a:latin typeface="Consolas"/>
              </a:defRPr>
            </a:pPr>
            <a:r>
              <a:rPr dirty="0"/>
              <a:t>    state = </a:t>
            </a:r>
            <a:r>
              <a:rPr dirty="0" err="1"/>
              <a:t>mix_columns</a:t>
            </a:r>
            <a:r>
              <a:rPr dirty="0"/>
              <a:t>(state)         # Diffusion (Galois Field Math)</a:t>
            </a:r>
          </a:p>
          <a:p>
            <a:pPr algn="l">
              <a:defRPr sz="1400">
                <a:solidFill>
                  <a:srgbClr val="56D364"/>
                </a:solidFill>
                <a:latin typeface="Consolas"/>
              </a:defRPr>
            </a:pPr>
            <a:r>
              <a:rPr dirty="0"/>
              <a:t>    state = state ^ keys[1]            # Add Round Key 1</a:t>
            </a:r>
          </a:p>
          <a:p>
            <a:pPr algn="l">
              <a:defRPr sz="1400">
                <a:solidFill>
                  <a:srgbClr val="56D364"/>
                </a:solidFill>
                <a:latin typeface="Consolas"/>
              </a:defRPr>
            </a:pPr>
            <a:r>
              <a:rPr dirty="0"/>
              <a:t>    </a:t>
            </a:r>
          </a:p>
          <a:p>
            <a:pPr algn="l">
              <a:defRPr sz="1400">
                <a:solidFill>
                  <a:srgbClr val="56D364"/>
                </a:solidFill>
                <a:latin typeface="Consolas"/>
              </a:defRPr>
            </a:pPr>
            <a:r>
              <a:rPr dirty="0"/>
              <a:t>    # Round 2 (Omit </a:t>
            </a:r>
            <a:r>
              <a:rPr dirty="0" err="1"/>
              <a:t>MixColumns</a:t>
            </a:r>
            <a:r>
              <a:rPr dirty="0"/>
              <a:t>)</a:t>
            </a:r>
          </a:p>
          <a:p>
            <a:pPr algn="l">
              <a:defRPr sz="1400">
                <a:solidFill>
                  <a:srgbClr val="56D364"/>
                </a:solidFill>
                <a:latin typeface="Consolas"/>
              </a:defRPr>
            </a:pPr>
            <a:r>
              <a:rPr dirty="0"/>
              <a:t>    state = </a:t>
            </a:r>
            <a:r>
              <a:rPr dirty="0" err="1"/>
              <a:t>sub_state</a:t>
            </a:r>
            <a:r>
              <a:rPr dirty="0"/>
              <a:t>(state, SBOX)</a:t>
            </a:r>
          </a:p>
          <a:p>
            <a:pPr algn="l">
              <a:defRPr sz="1400">
                <a:solidFill>
                  <a:srgbClr val="56D364"/>
                </a:solidFill>
                <a:latin typeface="Consolas"/>
              </a:defRPr>
            </a:pPr>
            <a:r>
              <a:rPr dirty="0"/>
              <a:t>    state = </a:t>
            </a:r>
            <a:r>
              <a:rPr dirty="0" err="1"/>
              <a:t>shift_rows</a:t>
            </a:r>
            <a:r>
              <a:rPr dirty="0"/>
              <a:t>(state)</a:t>
            </a:r>
          </a:p>
          <a:p>
            <a:pPr algn="l">
              <a:defRPr sz="1400">
                <a:solidFill>
                  <a:srgbClr val="56D364"/>
                </a:solidFill>
                <a:latin typeface="Consolas"/>
              </a:defRPr>
            </a:pPr>
            <a:r>
              <a:rPr dirty="0"/>
              <a:t>    return state ^ keys[2]             # Add Final Round Key 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0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FFCC00"/>
                </a:solidFill>
                <a:latin typeface="Segoe UI"/>
              </a:defRPr>
            </a:pPr>
            <a:r>
              <a:t>Implementation: Key Expansion Schedule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659806"/>
            <a:ext cx="8229600" cy="5029200"/>
          </a:xfrm>
          <a:prstGeom prst="rect">
            <a:avLst/>
          </a:prstGeom>
          <a:solidFill>
            <a:srgbClr val="1E1E1E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300">
                <a:solidFill>
                  <a:srgbClr val="56D364"/>
                </a:solidFill>
                <a:latin typeface="Consolas"/>
              </a:defRPr>
            </a:pPr>
            <a:r>
              <a:rPr dirty="0"/>
              <a:t>def </a:t>
            </a:r>
            <a:r>
              <a:rPr dirty="0" err="1"/>
              <a:t>key_expansion</a:t>
            </a:r>
            <a:r>
              <a:rPr dirty="0"/>
              <a:t>(key):</a:t>
            </a:r>
          </a:p>
          <a:p>
            <a:pPr algn="l">
              <a:defRPr sz="1300">
                <a:solidFill>
                  <a:srgbClr val="56D364"/>
                </a:solidFill>
                <a:latin typeface="Consolas"/>
              </a:defRPr>
            </a:pPr>
            <a:r>
              <a:rPr dirty="0"/>
              <a:t>    # Splits the 16-bit master key into two 8-bit words</a:t>
            </a:r>
          </a:p>
          <a:p>
            <a:pPr algn="l">
              <a:defRPr sz="1300">
                <a:solidFill>
                  <a:srgbClr val="56D364"/>
                </a:solidFill>
                <a:latin typeface="Consolas"/>
              </a:defRPr>
            </a:pPr>
            <a:r>
              <a:rPr dirty="0"/>
              <a:t>    w = [0] * 6</a:t>
            </a:r>
          </a:p>
          <a:p>
            <a:pPr algn="l">
              <a:defRPr sz="1300">
                <a:solidFill>
                  <a:srgbClr val="56D364"/>
                </a:solidFill>
                <a:latin typeface="Consolas"/>
              </a:defRPr>
            </a:pPr>
            <a:r>
              <a:rPr dirty="0"/>
              <a:t>    w[0] = (key &amp; 0xFF00) &gt;&gt; 8</a:t>
            </a:r>
          </a:p>
          <a:p>
            <a:pPr algn="l">
              <a:defRPr sz="1300">
                <a:solidFill>
                  <a:srgbClr val="56D364"/>
                </a:solidFill>
                <a:latin typeface="Consolas"/>
              </a:defRPr>
            </a:pPr>
            <a:r>
              <a:rPr dirty="0"/>
              <a:t>    w[1] = key &amp; 0x00FF</a:t>
            </a:r>
          </a:p>
          <a:p>
            <a:pPr algn="l">
              <a:defRPr sz="1300">
                <a:solidFill>
                  <a:srgbClr val="56D364"/>
                </a:solidFill>
                <a:latin typeface="Consolas"/>
              </a:defRPr>
            </a:pPr>
            <a:r>
              <a:rPr dirty="0"/>
              <a:t>    </a:t>
            </a:r>
          </a:p>
          <a:p>
            <a:pPr algn="l">
              <a:defRPr sz="1300">
                <a:solidFill>
                  <a:srgbClr val="56D364"/>
                </a:solidFill>
                <a:latin typeface="Consolas"/>
              </a:defRPr>
            </a:pPr>
            <a:r>
              <a:rPr dirty="0"/>
              <a:t>    # Round 1 Subkey Generation (w2 &amp; w3)</a:t>
            </a:r>
          </a:p>
          <a:p>
            <a:pPr algn="l">
              <a:defRPr sz="1300">
                <a:solidFill>
                  <a:srgbClr val="56D364"/>
                </a:solidFill>
                <a:latin typeface="Consolas"/>
              </a:defRPr>
            </a:pPr>
            <a:r>
              <a:rPr dirty="0"/>
              <a:t>    # Applies S-Box substitution, rotation, and Round Constant (RCON 0x80)</a:t>
            </a:r>
          </a:p>
          <a:p>
            <a:pPr algn="l">
              <a:defRPr sz="1300">
                <a:solidFill>
                  <a:srgbClr val="56D364"/>
                </a:solidFill>
                <a:latin typeface="Consolas"/>
              </a:defRPr>
            </a:pPr>
            <a:r>
              <a:rPr dirty="0"/>
              <a:t>    w[2] = w[0] ^ 0x80 ^ </a:t>
            </a:r>
            <a:r>
              <a:rPr dirty="0" err="1"/>
              <a:t>sub_word</a:t>
            </a:r>
            <a:r>
              <a:rPr dirty="0"/>
              <a:t>(</a:t>
            </a:r>
            <a:r>
              <a:rPr dirty="0" err="1"/>
              <a:t>rot_word</a:t>
            </a:r>
            <a:r>
              <a:rPr dirty="0"/>
              <a:t>(w[1]))</a:t>
            </a:r>
          </a:p>
          <a:p>
            <a:pPr algn="l">
              <a:defRPr sz="1300">
                <a:solidFill>
                  <a:srgbClr val="56D364"/>
                </a:solidFill>
                <a:latin typeface="Consolas"/>
              </a:defRPr>
            </a:pPr>
            <a:r>
              <a:rPr dirty="0"/>
              <a:t>    w[3] = w[2] ^ w[1]</a:t>
            </a:r>
          </a:p>
          <a:p>
            <a:pPr algn="l">
              <a:defRPr sz="1300">
                <a:solidFill>
                  <a:srgbClr val="56D364"/>
                </a:solidFill>
                <a:latin typeface="Consolas"/>
              </a:defRPr>
            </a:pPr>
            <a:r>
              <a:rPr dirty="0"/>
              <a:t>    </a:t>
            </a:r>
          </a:p>
          <a:p>
            <a:pPr algn="l">
              <a:defRPr sz="1300">
                <a:solidFill>
                  <a:srgbClr val="56D364"/>
                </a:solidFill>
                <a:latin typeface="Consolas"/>
              </a:defRPr>
            </a:pPr>
            <a:r>
              <a:rPr dirty="0"/>
              <a:t>    # Round 2 Subkey Generation (w4 &amp; w5) (RCON 0x30)</a:t>
            </a:r>
          </a:p>
          <a:p>
            <a:pPr algn="l">
              <a:defRPr sz="1300">
                <a:solidFill>
                  <a:srgbClr val="56D364"/>
                </a:solidFill>
                <a:latin typeface="Consolas"/>
              </a:defRPr>
            </a:pPr>
            <a:r>
              <a:rPr dirty="0"/>
              <a:t>    w[4] = w[2] ^ 0x30 ^ </a:t>
            </a:r>
            <a:r>
              <a:rPr dirty="0" err="1"/>
              <a:t>sub_word</a:t>
            </a:r>
            <a:r>
              <a:rPr dirty="0"/>
              <a:t>(</a:t>
            </a:r>
            <a:r>
              <a:rPr dirty="0" err="1"/>
              <a:t>rot_word</a:t>
            </a:r>
            <a:r>
              <a:rPr dirty="0"/>
              <a:t>(w[3]))</a:t>
            </a:r>
          </a:p>
          <a:p>
            <a:pPr algn="l">
              <a:defRPr sz="1300">
                <a:solidFill>
                  <a:srgbClr val="56D364"/>
                </a:solidFill>
                <a:latin typeface="Consolas"/>
              </a:defRPr>
            </a:pPr>
            <a:r>
              <a:rPr dirty="0"/>
              <a:t>    w[5] = w[4] ^ w[3]</a:t>
            </a:r>
          </a:p>
          <a:p>
            <a:pPr algn="l">
              <a:defRPr sz="1300">
                <a:solidFill>
                  <a:srgbClr val="56D364"/>
                </a:solidFill>
                <a:latin typeface="Consolas"/>
              </a:defRPr>
            </a:pPr>
            <a:r>
              <a:rPr dirty="0"/>
              <a:t>    </a:t>
            </a:r>
          </a:p>
          <a:p>
            <a:pPr algn="l">
              <a:defRPr sz="1300">
                <a:solidFill>
                  <a:srgbClr val="56D364"/>
                </a:solidFill>
                <a:latin typeface="Consolas"/>
              </a:defRPr>
            </a:pPr>
            <a:r>
              <a:rPr dirty="0"/>
              <a:t>    # Merges 8-bit words back into 16-bit sequence keys K0, K1, K2</a:t>
            </a:r>
          </a:p>
          <a:p>
            <a:pPr algn="l">
              <a:defRPr sz="1300">
                <a:solidFill>
                  <a:srgbClr val="56D364"/>
                </a:solidFill>
                <a:latin typeface="Consolas"/>
              </a:defRPr>
            </a:pPr>
            <a:r>
              <a:rPr dirty="0"/>
              <a:t>    return [(w[0] &lt;&lt; 8) | w[1], (w[2] &lt;&lt; 8) | w[3], (w[4] &lt;&lt; 8) | w[5]]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0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FFCC00"/>
                </a:solidFill>
                <a:latin typeface="Segoe UI"/>
              </a:defRPr>
            </a:pPr>
            <a:r>
              <a:t>Implementation: Confusion &amp; Diffusion Primitives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859872"/>
            <a:ext cx="8229600" cy="4114800"/>
          </a:xfrm>
          <a:prstGeom prst="rect">
            <a:avLst/>
          </a:prstGeom>
          <a:solidFill>
            <a:srgbClr val="1E1E1E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200">
                <a:solidFill>
                  <a:srgbClr val="56D364"/>
                </a:solidFill>
                <a:latin typeface="Consolas"/>
              </a:defRPr>
            </a:pPr>
            <a:r>
              <a:t>def sub_nibbles(state, sbox):</a:t>
            </a:r>
          </a:p>
          <a:p>
            <a:pPr algn="l">
              <a:defRPr sz="1200">
                <a:solidFill>
                  <a:srgbClr val="56D364"/>
                </a:solidFill>
                <a:latin typeface="Consolas"/>
              </a:defRPr>
            </a:pPr>
            <a:r>
              <a:t>    # CONFUSION: Dissects 16-bit state into four 4-bit nibbles logically.</a:t>
            </a:r>
          </a:p>
          <a:p>
            <a:pPr algn="l">
              <a:defRPr sz="1200">
                <a:solidFill>
                  <a:srgbClr val="56D364"/>
                </a:solidFill>
                <a:latin typeface="Consolas"/>
              </a:defRPr>
            </a:pPr>
            <a:r>
              <a:t>    # Uses matrix lookups to inject deep non-linearity into the cipher.</a:t>
            </a:r>
          </a:p>
          <a:p>
            <a:pPr algn="l">
              <a:defRPr sz="1200">
                <a:solidFill>
                  <a:srgbClr val="56D364"/>
                </a:solidFill>
                <a:latin typeface="Consolas"/>
              </a:defRPr>
            </a:pPr>
            <a:r>
              <a:t>    return (sbox[(state &gt;&gt; 12) &amp; 3][(state &gt;&gt; 14) &amp; 3] &lt;&lt; 12) | \</a:t>
            </a:r>
          </a:p>
          <a:p>
            <a:pPr algn="l">
              <a:defRPr sz="1200">
                <a:solidFill>
                  <a:srgbClr val="56D364"/>
                </a:solidFill>
                <a:latin typeface="Consolas"/>
              </a:defRPr>
            </a:pPr>
            <a:r>
              <a:t>           (sbox[(state &gt;&gt; 8) &amp; 3][(state &gt;&gt; 10) &amp; 3] &lt;&lt; 8)   | \</a:t>
            </a:r>
          </a:p>
          <a:p>
            <a:pPr algn="l">
              <a:defRPr sz="1200">
                <a:solidFill>
                  <a:srgbClr val="56D364"/>
                </a:solidFill>
                <a:latin typeface="Consolas"/>
              </a:defRPr>
            </a:pPr>
            <a:r>
              <a:t>           (sbox[(state &gt;&gt; 4) &amp; 3][(state &gt;&gt; 6) &amp; 3] &lt;&lt; 4)    | \</a:t>
            </a:r>
          </a:p>
          <a:p>
            <a:pPr algn="l">
              <a:defRPr sz="1200">
                <a:solidFill>
                  <a:srgbClr val="56D364"/>
                </a:solidFill>
                <a:latin typeface="Consolas"/>
              </a:defRPr>
            </a:pPr>
            <a:r>
              <a:t>           (sbox[state &amp; 3][(state &gt;&gt; 2) &amp; 3])</a:t>
            </a:r>
          </a:p>
          <a:p>
            <a:pPr algn="l">
              <a:defRPr sz="1200">
                <a:solidFill>
                  <a:srgbClr val="56D364"/>
                </a:solidFill>
                <a:latin typeface="Consolas"/>
              </a:defRPr>
            </a:pPr>
            <a:endParaRPr/>
          </a:p>
          <a:p>
            <a:pPr algn="l">
              <a:defRPr sz="1200">
                <a:solidFill>
                  <a:srgbClr val="56D364"/>
                </a:solidFill>
                <a:latin typeface="Consolas"/>
              </a:defRPr>
            </a:pPr>
            <a:r>
              <a:t>def shift_rows(state):</a:t>
            </a:r>
          </a:p>
          <a:p>
            <a:pPr algn="l">
              <a:defRPr sz="1200">
                <a:solidFill>
                  <a:srgbClr val="56D364"/>
                </a:solidFill>
                <a:latin typeface="Consolas"/>
              </a:defRPr>
            </a:pPr>
            <a:r>
              <a:t>    # DIFFUSION: Transposes mapping by physically swapping nibble 1 &amp; 3</a:t>
            </a:r>
          </a:p>
          <a:p>
            <a:pPr algn="l">
              <a:defRPr sz="1200">
                <a:solidFill>
                  <a:srgbClr val="56D364"/>
                </a:solidFill>
                <a:latin typeface="Consolas"/>
              </a:defRPr>
            </a:pPr>
            <a:r>
              <a:t>    n0, n1, n2, n3 = get_nibble(state, 0), get_nibble(state, 1), ...</a:t>
            </a:r>
          </a:p>
          <a:p>
            <a:pPr algn="l">
              <a:defRPr sz="1200">
                <a:solidFill>
                  <a:srgbClr val="56D364"/>
                </a:solidFill>
                <a:latin typeface="Consolas"/>
              </a:defRPr>
            </a:pPr>
            <a:r>
              <a:t>    return (n0 &lt;&lt; 12) | (n3 &lt;&lt; 8) | (n2 &lt;&lt; 4) | n1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0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FFCC00"/>
                </a:solidFill>
                <a:latin typeface="Segoe UI"/>
              </a:defRPr>
            </a:pPr>
            <a:r>
              <a:t>Implementation: MixColumns Arithmetic GF(2^4)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821698"/>
            <a:ext cx="8229600" cy="4572000"/>
          </a:xfrm>
          <a:prstGeom prst="rect">
            <a:avLst/>
          </a:prstGeom>
          <a:solidFill>
            <a:srgbClr val="1E1E1E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300">
                <a:solidFill>
                  <a:srgbClr val="56D364"/>
                </a:solidFill>
                <a:latin typeface="Consolas"/>
              </a:defRPr>
            </a:pPr>
            <a:r>
              <a:t># Mathematically multiplies values inside Galois Field 2^4 limits.</a:t>
            </a:r>
          </a:p>
          <a:p>
            <a:pPr algn="l">
              <a:defRPr sz="1300">
                <a:solidFill>
                  <a:srgbClr val="56D364"/>
                </a:solidFill>
                <a:latin typeface="Consolas"/>
              </a:defRPr>
            </a:pPr>
            <a:r>
              <a:t># Primitive Polynomial mapped: x^4 + x + 1 (Binary 10011 -&gt; Hex 0x13)</a:t>
            </a:r>
          </a:p>
          <a:p>
            <a:pPr algn="l">
              <a:defRPr sz="1300">
                <a:solidFill>
                  <a:srgbClr val="56D364"/>
                </a:solidFill>
                <a:latin typeface="Consolas"/>
              </a:defRPr>
            </a:pPr>
            <a:endParaRPr/>
          </a:p>
          <a:p>
            <a:pPr algn="l">
              <a:defRPr sz="1300">
                <a:solidFill>
                  <a:srgbClr val="56D364"/>
                </a:solidFill>
                <a:latin typeface="Consolas"/>
              </a:defRPr>
            </a:pPr>
            <a:r>
              <a:t>def gf_mult(a, b):</a:t>
            </a:r>
          </a:p>
          <a:p>
            <a:pPr algn="l">
              <a:defRPr sz="1300">
                <a:solidFill>
                  <a:srgbClr val="56D364"/>
                </a:solidFill>
                <a:latin typeface="Consolas"/>
              </a:defRPr>
            </a:pPr>
            <a:r>
              <a:t>    p = 0</a:t>
            </a:r>
          </a:p>
          <a:p>
            <a:pPr algn="l">
              <a:defRPr sz="1300">
                <a:solidFill>
                  <a:srgbClr val="56D364"/>
                </a:solidFill>
                <a:latin typeface="Consolas"/>
              </a:defRPr>
            </a:pPr>
            <a:r>
              <a:t>    for _ in range(4):</a:t>
            </a:r>
          </a:p>
          <a:p>
            <a:pPr algn="l">
              <a:defRPr sz="1300">
                <a:solidFill>
                  <a:srgbClr val="56D364"/>
                </a:solidFill>
                <a:latin typeface="Consolas"/>
              </a:defRPr>
            </a:pPr>
            <a:r>
              <a:t>        if b &amp; 1: p ^= a            # Native multiplication addition</a:t>
            </a:r>
          </a:p>
          <a:p>
            <a:pPr algn="l">
              <a:defRPr sz="1300">
                <a:solidFill>
                  <a:srgbClr val="56D364"/>
                </a:solidFill>
                <a:latin typeface="Consolas"/>
              </a:defRPr>
            </a:pPr>
            <a:r>
              <a:t>        </a:t>
            </a:r>
          </a:p>
          <a:p>
            <a:pPr algn="l">
              <a:defRPr sz="1300">
                <a:solidFill>
                  <a:srgbClr val="56D364"/>
                </a:solidFill>
                <a:latin typeface="Consolas"/>
              </a:defRPr>
            </a:pPr>
            <a:r>
              <a:t>        hi_bit_set = a &amp; 0x8        # Checks if MSB is active</a:t>
            </a:r>
          </a:p>
          <a:p>
            <a:pPr algn="l">
              <a:defRPr sz="1300">
                <a:solidFill>
                  <a:srgbClr val="56D364"/>
                </a:solidFill>
                <a:latin typeface="Consolas"/>
              </a:defRPr>
            </a:pPr>
            <a:r>
              <a:t>        a &lt;&lt;= 1                     # Algebraic multiplication by x</a:t>
            </a:r>
          </a:p>
          <a:p>
            <a:pPr algn="l">
              <a:defRPr sz="1300">
                <a:solidFill>
                  <a:srgbClr val="56D364"/>
                </a:solidFill>
                <a:latin typeface="Consolas"/>
              </a:defRPr>
            </a:pPr>
            <a:r>
              <a:t>        </a:t>
            </a:r>
          </a:p>
          <a:p>
            <a:pPr algn="l">
              <a:defRPr sz="1300">
                <a:solidFill>
                  <a:srgbClr val="56D364"/>
                </a:solidFill>
                <a:latin typeface="Consolas"/>
              </a:defRPr>
            </a:pPr>
            <a:r>
              <a:t>        if hi_bit_set: </a:t>
            </a:r>
          </a:p>
          <a:p>
            <a:pPr algn="l">
              <a:defRPr sz="1300">
                <a:solidFill>
                  <a:srgbClr val="56D364"/>
                </a:solidFill>
                <a:latin typeface="Consolas"/>
              </a:defRPr>
            </a:pPr>
            <a:r>
              <a:t>            a ^= 0x13               # Modulo reduction enforces GF limits</a:t>
            </a:r>
          </a:p>
          <a:p>
            <a:pPr algn="l">
              <a:defRPr sz="1300">
                <a:solidFill>
                  <a:srgbClr val="56D364"/>
                </a:solidFill>
                <a:latin typeface="Consolas"/>
              </a:defRPr>
            </a:pPr>
            <a:r>
              <a:t>        b &gt;&gt;= 1</a:t>
            </a:r>
          </a:p>
          <a:p>
            <a:pPr algn="l">
              <a:defRPr sz="1300">
                <a:solidFill>
                  <a:srgbClr val="56D364"/>
                </a:solidFill>
                <a:latin typeface="Consolas"/>
              </a:defRPr>
            </a:pPr>
            <a:r>
              <a:t>    return p &amp; 0xF                  # Strict 4-bit clipping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0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FFCC00"/>
                </a:solidFill>
                <a:latin typeface="Segoe UI"/>
              </a:defRPr>
            </a:pPr>
            <a:r>
              <a:t>Research: Vulnerabilities &amp; XTS Protocol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defRPr>
                <a:solidFill>
                  <a:srgbClr val="F0F0F0"/>
                </a:solidFill>
                <a:latin typeface="Segoe UI"/>
              </a:defRPr>
            </a:pPr>
            <a:r>
              <a:rPr sz="2400" dirty="0"/>
              <a:t>The ECB Mode Vulnerability (Why standard AES fails):</a:t>
            </a:r>
          </a:p>
          <a:p>
            <a:pPr lvl="1">
              <a:defRPr>
                <a:solidFill>
                  <a:srgbClr val="F0F0F0"/>
                </a:solidFill>
                <a:latin typeface="Segoe UI"/>
              </a:defRPr>
            </a:pPr>
            <a:r>
              <a:rPr sz="2400" dirty="0"/>
              <a:t>Encrypting identical plaintext blocks repeatedly generates identical ciphertext recurring patterns.</a:t>
            </a:r>
          </a:p>
          <a:p>
            <a:pPr>
              <a:defRPr>
                <a:solidFill>
                  <a:srgbClr val="F0F0F0"/>
                </a:solidFill>
                <a:latin typeface="Segoe UI"/>
              </a:defRPr>
            </a:pPr>
            <a:r>
              <a:rPr sz="2400" dirty="0"/>
              <a:t>The XTS Solution (XEX-based Tweaked </a:t>
            </a:r>
            <a:r>
              <a:rPr sz="2400" dirty="0" err="1"/>
              <a:t>CodeBook</a:t>
            </a:r>
            <a:r>
              <a:rPr sz="2400" dirty="0"/>
              <a:t> Mode):</a:t>
            </a:r>
          </a:p>
          <a:p>
            <a:pPr lvl="1">
              <a:defRPr>
                <a:solidFill>
                  <a:srgbClr val="F0F0F0"/>
                </a:solidFill>
                <a:latin typeface="Segoe UI"/>
              </a:defRPr>
            </a:pPr>
            <a:r>
              <a:rPr sz="2400" dirty="0"/>
              <a:t>Specifically mitigates identical sequence leaks during block streaming.</a:t>
            </a:r>
          </a:p>
          <a:p>
            <a:pPr>
              <a:defRPr>
                <a:solidFill>
                  <a:srgbClr val="F0F0F0"/>
                </a:solidFill>
                <a:latin typeface="Segoe UI"/>
              </a:defRPr>
            </a:pPr>
            <a:r>
              <a:rPr sz="2400" dirty="0"/>
              <a:t>Tweak Mechanics &amp; Architecture:</a:t>
            </a:r>
          </a:p>
          <a:p>
            <a:pPr lvl="1">
              <a:defRPr>
                <a:solidFill>
                  <a:srgbClr val="F0F0F0"/>
                </a:solidFill>
                <a:latin typeface="Segoe UI"/>
              </a:defRPr>
            </a:pPr>
            <a:r>
              <a:rPr sz="2400" dirty="0"/>
              <a:t>Dual-Key Array: K1 encrypts the Payload; K2 encrypts the mathematical 'Tweak'.</a:t>
            </a:r>
          </a:p>
          <a:p>
            <a:pPr lvl="1">
              <a:defRPr>
                <a:solidFill>
                  <a:srgbClr val="F0F0F0"/>
                </a:solidFill>
                <a:latin typeface="Segoe UI"/>
              </a:defRPr>
            </a:pPr>
            <a:r>
              <a:rPr sz="2400" dirty="0"/>
              <a:t>The Formula: C = Ek1( P ⊕ T ) ⊕ T</a:t>
            </a:r>
          </a:p>
          <a:p>
            <a:pPr lvl="1">
              <a:defRPr>
                <a:solidFill>
                  <a:srgbClr val="F0F0F0"/>
                </a:solidFill>
                <a:latin typeface="Segoe UI"/>
              </a:defRPr>
            </a:pPr>
            <a:r>
              <a:rPr sz="2400" dirty="0"/>
              <a:t>The Tweak is mathematically shifted via GF(2^16) for every consecutive block sequence.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0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FFCC00"/>
                </a:solidFill>
                <a:latin typeface="Segoe UI"/>
              </a:defRPr>
            </a:pPr>
            <a:r>
              <a:t>Implementation: XTS Mode Encryption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665133"/>
            <a:ext cx="8229600" cy="4918229"/>
          </a:xfrm>
          <a:prstGeom prst="rect">
            <a:avLst/>
          </a:prstGeom>
          <a:solidFill>
            <a:srgbClr val="1E1E1E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200">
                <a:solidFill>
                  <a:srgbClr val="56D364"/>
                </a:solidFill>
                <a:latin typeface="Consolas"/>
              </a:defRPr>
            </a:pPr>
            <a:r>
              <a:t># Galois shift mapping Primitive Poly: x^16 + x^5 + x^3 + x^2 + 1 (0x002D)</a:t>
            </a:r>
          </a:p>
          <a:p>
            <a:pPr algn="l">
              <a:defRPr sz="1200">
                <a:solidFill>
                  <a:srgbClr val="56D364"/>
                </a:solidFill>
                <a:latin typeface="Consolas"/>
              </a:defRPr>
            </a:pPr>
            <a:r>
              <a:t>def mult_alpha_16(t):</a:t>
            </a:r>
          </a:p>
          <a:p>
            <a:pPr algn="l">
              <a:defRPr sz="1200">
                <a:solidFill>
                  <a:srgbClr val="56D364"/>
                </a:solidFill>
                <a:latin typeface="Consolas"/>
              </a:defRPr>
            </a:pPr>
            <a:r>
              <a:t>    shifted = (t &lt;&lt; 1) &amp; 0xFFFF</a:t>
            </a:r>
          </a:p>
          <a:p>
            <a:pPr algn="l">
              <a:defRPr sz="1200">
                <a:solidFill>
                  <a:srgbClr val="56D364"/>
                </a:solidFill>
                <a:latin typeface="Consolas"/>
              </a:defRPr>
            </a:pPr>
            <a:r>
              <a:t>    return shifted ^ 0x002D if (t &amp; 0x8000) else shifted</a:t>
            </a:r>
          </a:p>
          <a:p>
            <a:pPr algn="l">
              <a:defRPr sz="1200">
                <a:solidFill>
                  <a:srgbClr val="56D364"/>
                </a:solidFill>
                <a:latin typeface="Consolas"/>
              </a:defRPr>
            </a:pPr>
            <a:endParaRPr/>
          </a:p>
          <a:p>
            <a:pPr algn="l">
              <a:defRPr sz="1200">
                <a:solidFill>
                  <a:srgbClr val="56D364"/>
                </a:solidFill>
                <a:latin typeface="Consolas"/>
              </a:defRPr>
            </a:pPr>
            <a:r>
              <a:t>def xts_encrypt(plaintext_blocks, key1, key2, tweak):</a:t>
            </a:r>
          </a:p>
          <a:p>
            <a:pPr algn="l">
              <a:defRPr sz="1200">
                <a:solidFill>
                  <a:srgbClr val="56D364"/>
                </a:solidFill>
                <a:latin typeface="Consolas"/>
              </a:defRPr>
            </a:pPr>
            <a:r>
              <a:t>    ciphertext_blocks = []</a:t>
            </a:r>
          </a:p>
          <a:p>
            <a:pPr algn="l">
              <a:defRPr sz="1200">
                <a:solidFill>
                  <a:srgbClr val="56D364"/>
                </a:solidFill>
                <a:latin typeface="Consolas"/>
              </a:defRPr>
            </a:pPr>
            <a:r>
              <a:t>    T = saes_encrypt(tweak, key2)            # K2 Secures Initial Tweak</a:t>
            </a:r>
          </a:p>
          <a:p>
            <a:pPr algn="l">
              <a:defRPr sz="1200">
                <a:solidFill>
                  <a:srgbClr val="56D364"/>
                </a:solidFill>
                <a:latin typeface="Consolas"/>
              </a:defRPr>
            </a:pPr>
            <a:r>
              <a:t>    </a:t>
            </a:r>
          </a:p>
          <a:p>
            <a:pPr algn="l">
              <a:defRPr sz="1200">
                <a:solidFill>
                  <a:srgbClr val="56D364"/>
                </a:solidFill>
                <a:latin typeface="Consolas"/>
              </a:defRPr>
            </a:pPr>
            <a:r>
              <a:t>    for block in plaintext_blocks:</a:t>
            </a:r>
          </a:p>
          <a:p>
            <a:pPr algn="l">
              <a:defRPr sz="1200">
                <a:solidFill>
                  <a:srgbClr val="56D364"/>
                </a:solidFill>
                <a:latin typeface="Consolas"/>
              </a:defRPr>
            </a:pPr>
            <a:r>
              <a:t>        pp = block ^ T                       # P XOR T (Pre-whitening)</a:t>
            </a:r>
          </a:p>
          <a:p>
            <a:pPr algn="l">
              <a:defRPr sz="1200">
                <a:solidFill>
                  <a:srgbClr val="56D364"/>
                </a:solidFill>
                <a:latin typeface="Consolas"/>
              </a:defRPr>
            </a:pPr>
            <a:r>
              <a:t>        cc = saes_encrypt(pp, key1)          # K1 Encrypts Main Payload</a:t>
            </a:r>
          </a:p>
          <a:p>
            <a:pPr algn="l">
              <a:defRPr sz="1200">
                <a:solidFill>
                  <a:srgbClr val="56D364"/>
                </a:solidFill>
                <a:latin typeface="Consolas"/>
              </a:defRPr>
            </a:pPr>
            <a:r>
              <a:t>        c = cc ^ T                           # C XOR T (Post-whitening)</a:t>
            </a:r>
          </a:p>
          <a:p>
            <a:pPr algn="l">
              <a:defRPr sz="1200">
                <a:solidFill>
                  <a:srgbClr val="56D364"/>
                </a:solidFill>
                <a:latin typeface="Consolas"/>
              </a:defRPr>
            </a:pPr>
            <a:r>
              <a:t>        </a:t>
            </a:r>
          </a:p>
          <a:p>
            <a:pPr algn="l">
              <a:defRPr sz="1200">
                <a:solidFill>
                  <a:srgbClr val="56D364"/>
                </a:solidFill>
                <a:latin typeface="Consolas"/>
              </a:defRPr>
            </a:pPr>
            <a:r>
              <a:t>        ciphertext_blocks.append(c)</a:t>
            </a:r>
          </a:p>
          <a:p>
            <a:pPr algn="l">
              <a:defRPr sz="1200">
                <a:solidFill>
                  <a:srgbClr val="56D364"/>
                </a:solidFill>
                <a:latin typeface="Consolas"/>
              </a:defRPr>
            </a:pPr>
            <a:r>
              <a:t>        T = mult_alpha_16(T)                 # Advances Tweak via GF(2^16)</a:t>
            </a:r>
          </a:p>
          <a:p>
            <a:pPr algn="l">
              <a:defRPr sz="1200">
                <a:solidFill>
                  <a:srgbClr val="56D364"/>
                </a:solidFill>
                <a:latin typeface="Consolas"/>
              </a:defRPr>
            </a:pPr>
            <a:r>
              <a:t>        </a:t>
            </a:r>
          </a:p>
          <a:p>
            <a:pPr algn="l">
              <a:defRPr sz="1200">
                <a:solidFill>
                  <a:srgbClr val="56D364"/>
                </a:solidFill>
                <a:latin typeface="Consolas"/>
              </a:defRPr>
            </a:pPr>
            <a:r>
              <a:t>    return ciphertext_blocks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0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FFCC00"/>
                </a:solidFill>
                <a:latin typeface="Segoe UI"/>
              </a:defRPr>
            </a:pPr>
            <a:r>
              <a:t>Step 3: Cryptanalysis (Known-Plaintext Attack)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824362"/>
            <a:ext cx="8229600" cy="4572000"/>
          </a:xfrm>
          <a:prstGeom prst="rect">
            <a:avLst/>
          </a:prstGeom>
          <a:solidFill>
            <a:srgbClr val="1E1E1E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200">
                <a:solidFill>
                  <a:srgbClr val="56D364"/>
                </a:solidFill>
                <a:latin typeface="Consolas"/>
              </a:defRPr>
            </a:pPr>
            <a:r>
              <a:t>def brute_force_xts(target_ciphertext, known_plaintext, tweak):</a:t>
            </a:r>
          </a:p>
          <a:p>
            <a:pPr algn="l">
              <a:defRPr sz="1200">
                <a:solidFill>
                  <a:srgbClr val="56D364"/>
                </a:solidFill>
                <a:latin typeface="Consolas"/>
              </a:defRPr>
            </a:pPr>
            <a:r>
              <a:t>    # Strategy: Loop strictly bounded 16-bit Key Space (65,536 limit)</a:t>
            </a:r>
          </a:p>
          <a:p>
            <a:pPr algn="l">
              <a:defRPr sz="1200">
                <a:solidFill>
                  <a:srgbClr val="56D364"/>
                </a:solidFill>
                <a:latin typeface="Consolas"/>
              </a:defRPr>
            </a:pPr>
            <a:r>
              <a:t>    known_blocks = string_to_blocks(known_plaintext)</a:t>
            </a:r>
          </a:p>
          <a:p>
            <a:pPr algn="l">
              <a:defRPr sz="1200">
                <a:solidFill>
                  <a:srgbClr val="56D364"/>
                </a:solidFill>
                <a:latin typeface="Consolas"/>
              </a:defRPr>
            </a:pPr>
            <a:r>
              <a:t>    </a:t>
            </a:r>
          </a:p>
          <a:p>
            <a:pPr algn="l">
              <a:defRPr sz="1200">
                <a:solidFill>
                  <a:srgbClr val="56D364"/>
                </a:solidFill>
                <a:latin typeface="Consolas"/>
              </a:defRPr>
            </a:pPr>
            <a:r>
              <a:t>    for potential_k1 in range(0xFFFF + 1):</a:t>
            </a:r>
          </a:p>
          <a:p>
            <a:pPr algn="l">
              <a:defRPr sz="1200">
                <a:solidFill>
                  <a:srgbClr val="56D364"/>
                </a:solidFill>
                <a:latin typeface="Consolas"/>
              </a:defRPr>
            </a:pPr>
            <a:r>
              <a:t>        T = saes_encrypt(tweak, actual_k2)</a:t>
            </a:r>
          </a:p>
          <a:p>
            <a:pPr algn="l">
              <a:defRPr sz="1200">
                <a:solidFill>
                  <a:srgbClr val="56D364"/>
                </a:solidFill>
                <a:latin typeface="Consolas"/>
              </a:defRPr>
            </a:pPr>
            <a:r>
              <a:t>        cc = target_ciphertext[0] ^ T        # Strip Tweak</a:t>
            </a:r>
          </a:p>
          <a:p>
            <a:pPr algn="l">
              <a:defRPr sz="1200">
                <a:solidFill>
                  <a:srgbClr val="56D364"/>
                </a:solidFill>
                <a:latin typeface="Consolas"/>
              </a:defRPr>
            </a:pPr>
            <a:r>
              <a:t>        pp = saes_decrypt(cc, potential_k1)  # Decrypt using trial key</a:t>
            </a:r>
          </a:p>
          <a:p>
            <a:pPr algn="l">
              <a:defRPr sz="1200">
                <a:solidFill>
                  <a:srgbClr val="56D364"/>
                </a:solidFill>
                <a:latin typeface="Consolas"/>
              </a:defRPr>
            </a:pPr>
            <a:r>
              <a:t>        p = pp ^ T                           # Reverse pre-whitening</a:t>
            </a:r>
          </a:p>
          <a:p>
            <a:pPr algn="l">
              <a:defRPr sz="1200">
                <a:solidFill>
                  <a:srgbClr val="56D364"/>
                </a:solidFill>
                <a:latin typeface="Consolas"/>
              </a:defRPr>
            </a:pPr>
            <a:r>
              <a:t>        </a:t>
            </a:r>
          </a:p>
          <a:p>
            <a:pPr algn="l">
              <a:defRPr sz="1200">
                <a:solidFill>
                  <a:srgbClr val="56D364"/>
                </a:solidFill>
                <a:latin typeface="Consolas"/>
              </a:defRPr>
            </a:pPr>
            <a:r>
              <a:t>        # PRUNING DELTA OPTIMIZATION</a:t>
            </a:r>
          </a:p>
          <a:p>
            <a:pPr algn="l">
              <a:defRPr sz="1200">
                <a:solidFill>
                  <a:srgbClr val="56D364"/>
                </a:solidFill>
                <a:latin typeface="Consolas"/>
              </a:defRPr>
            </a:pPr>
            <a:r>
              <a:t>        # Only evaluates the very first block. Aborts immediately if false.</a:t>
            </a:r>
          </a:p>
          <a:p>
            <a:pPr algn="l">
              <a:defRPr sz="1200">
                <a:solidFill>
                  <a:srgbClr val="56D364"/>
                </a:solidFill>
                <a:latin typeface="Consolas"/>
              </a:defRPr>
            </a:pPr>
            <a:r>
              <a:t>        if p == known_blocks[0]:             </a:t>
            </a:r>
          </a:p>
          <a:p>
            <a:pPr algn="l">
              <a:defRPr sz="1200">
                <a:solidFill>
                  <a:srgbClr val="56D364"/>
                </a:solidFill>
                <a:latin typeface="Consolas"/>
              </a:defRPr>
            </a:pPr>
            <a:r>
              <a:t>            decrypted = xts_decrypt(...)     # Secondary full validation</a:t>
            </a:r>
          </a:p>
          <a:p>
            <a:pPr algn="l">
              <a:defRPr sz="1200">
                <a:solidFill>
                  <a:srgbClr val="56D364"/>
                </a:solidFill>
                <a:latin typeface="Consolas"/>
              </a:defRPr>
            </a:pPr>
            <a:r>
              <a:t>            if decrypted == known_blocks:</a:t>
            </a:r>
          </a:p>
          <a:p>
            <a:pPr algn="l">
              <a:defRPr sz="1200">
                <a:solidFill>
                  <a:srgbClr val="56D364"/>
                </a:solidFill>
                <a:latin typeface="Consolas"/>
              </a:defRPr>
            </a:pPr>
            <a:r>
              <a:t>                print(f"Key Found! {hex(potential_k1)}")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0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FFCC00"/>
                </a:solidFill>
                <a:latin typeface="Segoe UI"/>
              </a:defRPr>
            </a:pPr>
            <a:r>
              <a:t>Project Validation &amp;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defRPr>
                <a:solidFill>
                  <a:srgbClr val="F0F0F0"/>
                </a:solidFill>
                <a:latin typeface="Segoe UI"/>
              </a:defRPr>
            </a:pPr>
            <a:r>
              <a:rPr sz="2000" dirty="0"/>
              <a:t>Phase 1 &amp; 2 Validation:</a:t>
            </a:r>
          </a:p>
          <a:p>
            <a:pPr lvl="1">
              <a:defRPr>
                <a:solidFill>
                  <a:srgbClr val="F0F0F0"/>
                </a:solidFill>
                <a:latin typeface="Segoe UI"/>
              </a:defRPr>
            </a:pPr>
            <a:r>
              <a:rPr sz="2000" dirty="0"/>
              <a:t>Ciphertext effectively scrambles integer payload blocks natively.</a:t>
            </a:r>
          </a:p>
          <a:p>
            <a:pPr lvl="1">
              <a:defRPr>
                <a:solidFill>
                  <a:srgbClr val="F0F0F0"/>
                </a:solidFill>
                <a:latin typeface="Segoe UI"/>
              </a:defRPr>
            </a:pPr>
            <a:r>
              <a:rPr sz="2000" dirty="0"/>
              <a:t>XTS decryption engine successfully restores plaintext without data corruption.</a:t>
            </a:r>
          </a:p>
          <a:p>
            <a:pPr>
              <a:defRPr>
                <a:solidFill>
                  <a:srgbClr val="F0F0F0"/>
                </a:solidFill>
                <a:latin typeface="Segoe UI"/>
              </a:defRPr>
            </a:pPr>
            <a:r>
              <a:rPr sz="2000" dirty="0"/>
              <a:t>Phase 3 Metrics:</a:t>
            </a:r>
          </a:p>
          <a:p>
            <a:pPr lvl="1">
              <a:defRPr>
                <a:solidFill>
                  <a:srgbClr val="F0F0F0"/>
                </a:solidFill>
                <a:latin typeface="Segoe UI"/>
              </a:defRPr>
            </a:pPr>
            <a:r>
              <a:rPr sz="2000" dirty="0"/>
              <a:t>Known-Plaintext Brute Force loop evaluated </a:t>
            </a:r>
            <a:r>
              <a:rPr sz="2000" dirty="0" err="1"/>
              <a:t>keyspace</a:t>
            </a:r>
            <a:r>
              <a:rPr sz="2000" dirty="0"/>
              <a:t> sequentially.</a:t>
            </a:r>
          </a:p>
          <a:p>
            <a:pPr lvl="1">
              <a:defRPr>
                <a:solidFill>
                  <a:srgbClr val="F0F0F0"/>
                </a:solidFill>
                <a:latin typeface="Segoe UI"/>
              </a:defRPr>
            </a:pPr>
            <a:r>
              <a:rPr sz="2000" dirty="0"/>
              <a:t>Engine execution time to retrieve '0x1234': ~0.05 seconds.</a:t>
            </a:r>
          </a:p>
          <a:p>
            <a:pPr>
              <a:defRPr>
                <a:solidFill>
                  <a:srgbClr val="F0F0F0"/>
                </a:solidFill>
                <a:latin typeface="Segoe UI"/>
              </a:defRPr>
            </a:pPr>
            <a:r>
              <a:rPr sz="2000" dirty="0"/>
              <a:t>Final Conclusions:</a:t>
            </a:r>
          </a:p>
          <a:p>
            <a:pPr lvl="1">
              <a:defRPr>
                <a:solidFill>
                  <a:srgbClr val="F0F0F0"/>
                </a:solidFill>
                <a:latin typeface="Segoe UI"/>
              </a:defRPr>
            </a:pPr>
            <a:r>
              <a:rPr sz="2000" dirty="0"/>
              <a:t>Successfully synthesized advanced block cipher structures utilizing absolute zero structural libraries (pure integer arithmetic).</a:t>
            </a:r>
          </a:p>
          <a:p>
            <a:pPr lvl="1">
              <a:defRPr>
                <a:solidFill>
                  <a:srgbClr val="F0F0F0"/>
                </a:solidFill>
                <a:latin typeface="Segoe UI"/>
              </a:defRPr>
            </a:pPr>
            <a:r>
              <a:rPr sz="2000" dirty="0"/>
              <a:t>Asserted the inherent vulnerability of abbreviated </a:t>
            </a:r>
            <a:r>
              <a:rPr sz="2000" dirty="0" err="1"/>
              <a:t>keyspaces</a:t>
            </a:r>
            <a:r>
              <a:rPr sz="2000" dirty="0"/>
              <a:t> through applied cryptanalysis logic.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1508</Words>
  <Application>Microsoft Office PowerPoint</Application>
  <PresentationFormat>On-screen Show (4:3)</PresentationFormat>
  <Paragraphs>154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S-AES Implementation in XTS Mode</vt:lpstr>
      <vt:lpstr>Project Scope &amp; Requirements Fulfillment</vt:lpstr>
      <vt:lpstr>Research: Architecture of S-AES</vt:lpstr>
      <vt:lpstr>Implementation: The Core Wrapper (saes_encrypt)</vt:lpstr>
      <vt:lpstr>Implementation: Key Expansion Schedule</vt:lpstr>
      <vt:lpstr>Implementation: Confusion &amp; Diffusion Primitives</vt:lpstr>
      <vt:lpstr>Implementation: MixColumns Arithmetic GF(2^4)</vt:lpstr>
      <vt:lpstr>Research: Vulnerabilities &amp; XTS Protocol</vt:lpstr>
      <vt:lpstr>Implementation: XTS Mode Encryption</vt:lpstr>
      <vt:lpstr>Step 3: Cryptanalysis (Known-Plaintext Attack)</vt:lpstr>
      <vt:lpstr>Project Validation &amp; 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Charbel Maroun</cp:lastModifiedBy>
  <cp:revision>3</cp:revision>
  <dcterms:created xsi:type="dcterms:W3CDTF">2013-01-27T09:14:16Z</dcterms:created>
  <dcterms:modified xsi:type="dcterms:W3CDTF">2026-04-25T01:10:57Z</dcterms:modified>
  <cp:category/>
</cp:coreProperties>
</file>